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86" y="-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4172-18D2-4A37-936A-7660E64EF616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9CF-AD53-41DE-A209-0508D042B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77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4172-18D2-4A37-936A-7660E64EF616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9CF-AD53-41DE-A209-0508D042B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3973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4172-18D2-4A37-936A-7660E64EF616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9CF-AD53-41DE-A209-0508D042B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533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4172-18D2-4A37-936A-7660E64EF616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9CF-AD53-41DE-A209-0508D042B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837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4172-18D2-4A37-936A-7660E64EF616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9CF-AD53-41DE-A209-0508D042B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9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4172-18D2-4A37-936A-7660E64EF616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9CF-AD53-41DE-A209-0508D042B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949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4172-18D2-4A37-936A-7660E64EF616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9CF-AD53-41DE-A209-0508D042B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226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4172-18D2-4A37-936A-7660E64EF616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9CF-AD53-41DE-A209-0508D042B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677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4172-18D2-4A37-936A-7660E64EF616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9CF-AD53-41DE-A209-0508D042B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048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4172-18D2-4A37-936A-7660E64EF616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9CF-AD53-41DE-A209-0508D042B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588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4172-18D2-4A37-936A-7660E64EF616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139CF-AD53-41DE-A209-0508D042B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9927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9E4172-18D2-4A37-936A-7660E64EF616}" type="datetimeFigureOut">
              <a:rPr lang="ru-RU" smtClean="0"/>
              <a:t>27.11.2024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139CF-AD53-41DE-A209-0508D042B9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2072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family/mesnik_files/burlutsky_arina.html" TargetMode="External"/><Relationship Id="rId2" Type="http://schemas.openxmlformats.org/officeDocument/2006/relationships/hyperlink" Target="../../family/mesnik_files/mesnik_arina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Box 191" descr="Месник Абрам"/>
          <p:cNvSpPr txBox="1">
            <a:spLocks noChangeArrowheads="1"/>
          </p:cNvSpPr>
          <p:nvPr/>
        </p:nvSpPr>
        <p:spPr bwMode="auto">
          <a:xfrm>
            <a:off x="1452563" y="47815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Абрам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4" name="Oval 192" descr="Брауде Белла"/>
          <p:cNvSpPr>
            <a:spLocks noChangeArrowheads="1"/>
          </p:cNvSpPr>
          <p:nvPr/>
        </p:nvSpPr>
        <p:spPr bwMode="auto">
          <a:xfrm>
            <a:off x="1376363" y="43243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Брауде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 Белла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5" name="Text Box 193"/>
          <p:cNvSpPr txBox="1">
            <a:spLocks noChangeArrowheads="1"/>
          </p:cNvSpPr>
          <p:nvPr/>
        </p:nvSpPr>
        <p:spPr bwMode="auto">
          <a:xfrm>
            <a:off x="4763" y="550545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5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990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smtClean="0">
                <a:ln>
                  <a:noFill/>
                </a:ln>
                <a:solidFill>
                  <a:srgbClr val="003399"/>
                </a:solidFill>
                <a:effectLst/>
                <a:latin typeface="Arial" panose="020B0604020202020204" pitchFamily="34" charset="0"/>
              </a:rPr>
              <a:t>I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6" name="Text Box 194"/>
          <p:cNvSpPr txBox="1">
            <a:spLocks noChangeArrowheads="1"/>
          </p:cNvSpPr>
          <p:nvPr/>
        </p:nvSpPr>
        <p:spPr bwMode="auto">
          <a:xfrm>
            <a:off x="4763" y="4743450"/>
            <a:ext cx="498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5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990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smtClean="0">
                <a:ln>
                  <a:noFill/>
                </a:ln>
                <a:solidFill>
                  <a:srgbClr val="003399"/>
                </a:solidFill>
                <a:effectLst/>
                <a:latin typeface="Arial" panose="020B0604020202020204" pitchFamily="34" charset="0"/>
              </a:rPr>
              <a:t>II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7" name="Text Box 195"/>
          <p:cNvSpPr txBox="1">
            <a:spLocks noChangeArrowheads="1"/>
          </p:cNvSpPr>
          <p:nvPr/>
        </p:nvSpPr>
        <p:spPr bwMode="auto">
          <a:xfrm>
            <a:off x="4763" y="3829050"/>
            <a:ext cx="4857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5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990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smtClean="0">
                <a:ln>
                  <a:noFill/>
                </a:ln>
                <a:solidFill>
                  <a:srgbClr val="003399"/>
                </a:solidFill>
                <a:effectLst/>
                <a:latin typeface="Arial" panose="020B0604020202020204" pitchFamily="34" charset="0"/>
              </a:rPr>
              <a:t>III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8" name="Text Box 196"/>
          <p:cNvSpPr txBox="1">
            <a:spLocks noChangeArrowheads="1"/>
          </p:cNvSpPr>
          <p:nvPr/>
        </p:nvSpPr>
        <p:spPr bwMode="auto">
          <a:xfrm>
            <a:off x="4763" y="2952750"/>
            <a:ext cx="465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5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990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smtClean="0">
                <a:ln>
                  <a:noFill/>
                </a:ln>
                <a:solidFill>
                  <a:srgbClr val="003399"/>
                </a:solidFill>
                <a:effectLst/>
                <a:latin typeface="Arial" panose="020B0604020202020204" pitchFamily="34" charset="0"/>
              </a:rPr>
              <a:t>IV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9" name="Text Box 197"/>
          <p:cNvSpPr txBox="1">
            <a:spLocks noChangeArrowheads="1"/>
          </p:cNvSpPr>
          <p:nvPr/>
        </p:nvSpPr>
        <p:spPr bwMode="auto">
          <a:xfrm>
            <a:off x="4763" y="2000250"/>
            <a:ext cx="34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5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990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smtClean="0">
                <a:ln>
                  <a:noFill/>
                </a:ln>
                <a:solidFill>
                  <a:srgbClr val="003399"/>
                </a:solidFill>
                <a:effectLst/>
                <a:latin typeface="Arial" panose="020B0604020202020204" pitchFamily="34" charset="0"/>
              </a:rPr>
              <a:t>V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0" name="Text Box 198"/>
          <p:cNvSpPr txBox="1">
            <a:spLocks noChangeArrowheads="1"/>
          </p:cNvSpPr>
          <p:nvPr/>
        </p:nvSpPr>
        <p:spPr bwMode="auto">
          <a:xfrm>
            <a:off x="4763" y="1085850"/>
            <a:ext cx="465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5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990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smtClean="0">
                <a:ln>
                  <a:noFill/>
                </a:ln>
                <a:solidFill>
                  <a:srgbClr val="003399"/>
                </a:solidFill>
                <a:effectLst/>
                <a:latin typeface="Arial" panose="020B0604020202020204" pitchFamily="34" charset="0"/>
              </a:rPr>
              <a:t>VI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1" name="Rectangle 199"/>
          <p:cNvSpPr>
            <a:spLocks noRot="1" noChangeArrowheads="1"/>
          </p:cNvSpPr>
          <p:nvPr/>
        </p:nvSpPr>
        <p:spPr bwMode="auto">
          <a:xfrm>
            <a:off x="3243263" y="0"/>
            <a:ext cx="4876800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5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990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200" b="1" i="1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Родословная Месник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2" name="Rectangle 200"/>
          <p:cNvSpPr>
            <a:spLocks noRot="1" noChangeArrowheads="1"/>
          </p:cNvSpPr>
          <p:nvPr/>
        </p:nvSpPr>
        <p:spPr bwMode="auto">
          <a:xfrm>
            <a:off x="2138363" y="5695950"/>
            <a:ext cx="7239000" cy="41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03" name="Oval 201" descr="Месник Руфь"/>
          <p:cNvSpPr>
            <a:spLocks noChangeArrowheads="1"/>
          </p:cNvSpPr>
          <p:nvPr/>
        </p:nvSpPr>
        <p:spPr bwMode="auto">
          <a:xfrm>
            <a:off x="842963" y="37909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 Руфь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4" name="Text Box 202" descr="Месник Яков"/>
          <p:cNvSpPr txBox="1">
            <a:spLocks noChangeArrowheads="1"/>
          </p:cNvSpPr>
          <p:nvPr/>
        </p:nvSpPr>
        <p:spPr bwMode="auto">
          <a:xfrm>
            <a:off x="1833563" y="37909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Яков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5" name="Text Box 203" descr="Месник Рафаил"/>
          <p:cNvSpPr txBox="1">
            <a:spLocks noChangeArrowheads="1"/>
          </p:cNvSpPr>
          <p:nvPr/>
        </p:nvSpPr>
        <p:spPr bwMode="auto">
          <a:xfrm>
            <a:off x="3700463" y="37909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Рафаил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6" name="Oval 204" descr="Брауде Белла"/>
          <p:cNvSpPr>
            <a:spLocks noChangeArrowheads="1"/>
          </p:cNvSpPr>
          <p:nvPr/>
        </p:nvSpPr>
        <p:spPr bwMode="auto">
          <a:xfrm>
            <a:off x="804863" y="29908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Кахновер  Ирина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7" name="Text Box 205" descr="Кахновер Владимир"/>
          <p:cNvSpPr txBox="1">
            <a:spLocks noChangeArrowheads="1"/>
          </p:cNvSpPr>
          <p:nvPr/>
        </p:nvSpPr>
        <p:spPr bwMode="auto">
          <a:xfrm>
            <a:off x="461963" y="34099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Кахновер Вульф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8" name="Oval 206" descr="Катюрина Мария"/>
          <p:cNvSpPr>
            <a:spLocks noChangeArrowheads="1"/>
          </p:cNvSpPr>
          <p:nvPr/>
        </p:nvSpPr>
        <p:spPr bwMode="auto">
          <a:xfrm>
            <a:off x="3509963" y="34099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Катюрина Мария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9" name="Oval 207" descr="Месник Татьяна"/>
          <p:cNvSpPr>
            <a:spLocks noChangeArrowheads="1"/>
          </p:cNvSpPr>
          <p:nvPr/>
        </p:nvSpPr>
        <p:spPr bwMode="auto">
          <a:xfrm>
            <a:off x="1681163" y="29908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Татьяна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0" name="Text Box 208" descr="Месник Леонид ст.&#10;"/>
          <p:cNvSpPr txBox="1">
            <a:spLocks noChangeArrowheads="1"/>
          </p:cNvSpPr>
          <p:nvPr/>
        </p:nvSpPr>
        <p:spPr bwMode="auto">
          <a:xfrm>
            <a:off x="3357563" y="29527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Леонид ст.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1" name="Text Box 209" descr="Месник Владимир&#10;"/>
          <p:cNvSpPr txBox="1">
            <a:spLocks noChangeArrowheads="1"/>
          </p:cNvSpPr>
          <p:nvPr/>
        </p:nvSpPr>
        <p:spPr bwMode="auto">
          <a:xfrm>
            <a:off x="5795963" y="29527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Владимир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2" name="Text Box 210" descr="Месник &#10;Михаил&#10;"/>
          <p:cNvSpPr txBox="1">
            <a:spLocks noChangeArrowheads="1"/>
          </p:cNvSpPr>
          <p:nvPr/>
        </p:nvSpPr>
        <p:spPr bwMode="auto">
          <a:xfrm>
            <a:off x="7396163" y="29146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Михаил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3" name="Text Box 211" descr="Месник  &#10;Кирилл&#10;"/>
          <p:cNvSpPr txBox="1">
            <a:spLocks noChangeArrowheads="1"/>
          </p:cNvSpPr>
          <p:nvPr/>
        </p:nvSpPr>
        <p:spPr bwMode="auto">
          <a:xfrm>
            <a:off x="2557463" y="21145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Кирилл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4" name="Oval 212" descr="Гуринович &#10;Елена&#10;"/>
          <p:cNvSpPr>
            <a:spLocks noChangeArrowheads="1"/>
          </p:cNvSpPr>
          <p:nvPr/>
        </p:nvSpPr>
        <p:spPr bwMode="auto">
          <a:xfrm>
            <a:off x="2976563" y="25717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Гуринович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Елена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5" name="Oval 213" descr="Иващенко Людмила&#10;"/>
          <p:cNvSpPr>
            <a:spLocks noChangeArrowheads="1"/>
          </p:cNvSpPr>
          <p:nvPr/>
        </p:nvSpPr>
        <p:spPr bwMode="auto">
          <a:xfrm>
            <a:off x="5529263" y="26098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Иващенко Людмила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6" name="Oval 214" descr="Бурлуцкая Марина&#10;"/>
          <p:cNvSpPr>
            <a:spLocks noChangeArrowheads="1"/>
          </p:cNvSpPr>
          <p:nvPr/>
        </p:nvSpPr>
        <p:spPr bwMode="auto">
          <a:xfrm>
            <a:off x="1566863" y="2114550"/>
            <a:ext cx="6858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Митрофанова Марина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7" name="Text Box 215" descr="Бурлуцкий Сергей&#10;"/>
          <p:cNvSpPr txBox="1">
            <a:spLocks noChangeArrowheads="1"/>
          </p:cNvSpPr>
          <p:nvPr/>
        </p:nvSpPr>
        <p:spPr bwMode="auto">
          <a:xfrm>
            <a:off x="1528763" y="16192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Бурлуцкий Сергей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8" name="Text Box 216" descr="Бурлуцкий Владимир&#10;"/>
          <p:cNvSpPr txBox="1">
            <a:spLocks noChangeArrowheads="1"/>
          </p:cNvSpPr>
          <p:nvPr/>
        </p:nvSpPr>
        <p:spPr bwMode="auto">
          <a:xfrm>
            <a:off x="1452563" y="10477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Бурлуцкий Владимир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9" name="Oval 217" descr="Бурлуцкая Мария&#10;"/>
          <p:cNvSpPr>
            <a:spLocks noChangeArrowheads="1"/>
          </p:cNvSpPr>
          <p:nvPr/>
        </p:nvSpPr>
        <p:spPr bwMode="auto">
          <a:xfrm>
            <a:off x="2214563" y="10477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Бурлуцкая Мария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0" name="Oval 218" descr="Месник Виктория&#10;"/>
          <p:cNvSpPr>
            <a:spLocks noChangeArrowheads="1"/>
          </p:cNvSpPr>
          <p:nvPr/>
        </p:nvSpPr>
        <p:spPr bwMode="auto">
          <a:xfrm>
            <a:off x="3738563" y="21145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Виктория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1" name="Text Box 219" descr="Месник Роман&#10;"/>
          <p:cNvSpPr txBox="1">
            <a:spLocks noChangeArrowheads="1"/>
          </p:cNvSpPr>
          <p:nvPr/>
        </p:nvSpPr>
        <p:spPr bwMode="auto">
          <a:xfrm>
            <a:off x="4576763" y="21145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Роман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2" name="Oval 220" descr=" Шарпио Мария&#10;"/>
          <p:cNvSpPr>
            <a:spLocks noChangeArrowheads="1"/>
          </p:cNvSpPr>
          <p:nvPr/>
        </p:nvSpPr>
        <p:spPr bwMode="auto">
          <a:xfrm>
            <a:off x="4500563" y="16192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 Шарпио Мария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3" name="Text Box 221" descr="Коновалов Дмитрий&#10;"/>
          <p:cNvSpPr txBox="1">
            <a:spLocks noChangeArrowheads="1"/>
          </p:cNvSpPr>
          <p:nvPr/>
        </p:nvSpPr>
        <p:spPr bwMode="auto">
          <a:xfrm>
            <a:off x="3662363" y="16192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Коновалов Дмитрий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4" name="Oval 222" descr="Охотникова Софья&#10;"/>
          <p:cNvSpPr>
            <a:spLocks noChangeArrowheads="1"/>
          </p:cNvSpPr>
          <p:nvPr/>
        </p:nvSpPr>
        <p:spPr bwMode="auto">
          <a:xfrm>
            <a:off x="2481263" y="15430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Охотникова Софья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5" name="Oval 223" descr="Месник  Алина&#10;"/>
          <p:cNvSpPr>
            <a:spLocks noChangeArrowheads="1"/>
          </p:cNvSpPr>
          <p:nvPr/>
        </p:nvSpPr>
        <p:spPr bwMode="auto">
          <a:xfrm>
            <a:off x="3052763" y="10477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 Алина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6" name="Oval 224" descr="Месник  Арина&#10;">
            <a:hlinkClick r:id="rId2" action="ppaction://hlinkfile"/>
          </p:cNvPr>
          <p:cNvSpPr>
            <a:spLocks noChangeArrowheads="1"/>
          </p:cNvSpPr>
          <p:nvPr/>
        </p:nvSpPr>
        <p:spPr bwMode="auto">
          <a:xfrm>
            <a:off x="3738563" y="10477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 Арина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7" name="Text Box 225" descr="Месник Дмитрий&#10;"/>
          <p:cNvSpPr txBox="1">
            <a:spLocks noChangeArrowheads="1"/>
          </p:cNvSpPr>
          <p:nvPr/>
        </p:nvSpPr>
        <p:spPr bwMode="auto">
          <a:xfrm>
            <a:off x="5491163" y="21145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Дмитрий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8" name="Oval 226" descr="Месник Наталья&#10;"/>
          <p:cNvSpPr>
            <a:spLocks noChangeArrowheads="1"/>
          </p:cNvSpPr>
          <p:nvPr/>
        </p:nvSpPr>
        <p:spPr bwMode="auto">
          <a:xfrm>
            <a:off x="6329363" y="21145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Наталья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9" name="Text Box 227" descr="Перминов Марк&#10;"/>
          <p:cNvSpPr txBox="1">
            <a:spLocks noChangeArrowheads="1"/>
          </p:cNvSpPr>
          <p:nvPr/>
        </p:nvSpPr>
        <p:spPr bwMode="auto">
          <a:xfrm>
            <a:off x="7853363" y="160020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Перминов Марк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0" name="Oval 228" descr="Брауде Белла"/>
          <p:cNvSpPr>
            <a:spLocks noChangeArrowheads="1"/>
          </p:cNvSpPr>
          <p:nvPr/>
        </p:nvSpPr>
        <p:spPr bwMode="auto">
          <a:xfrm>
            <a:off x="5414963" y="16192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Гриценко Галина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1" name="Text Box 229" descr="Месник Абрам"/>
          <p:cNvSpPr txBox="1">
            <a:spLocks noChangeArrowheads="1"/>
          </p:cNvSpPr>
          <p:nvPr/>
        </p:nvSpPr>
        <p:spPr bwMode="auto">
          <a:xfrm>
            <a:off x="7129463" y="20764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Леонид мл.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2" name="Oval 230" descr="Месник Надежда&#10;"/>
          <p:cNvSpPr>
            <a:spLocks noChangeArrowheads="1"/>
          </p:cNvSpPr>
          <p:nvPr/>
        </p:nvSpPr>
        <p:spPr bwMode="auto">
          <a:xfrm>
            <a:off x="7853363" y="20764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Надежда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3" name="Text Box 231" descr="Месник Абрам"/>
          <p:cNvSpPr txBox="1">
            <a:spLocks noChangeArrowheads="1"/>
          </p:cNvSpPr>
          <p:nvPr/>
        </p:nvSpPr>
        <p:spPr bwMode="auto">
          <a:xfrm>
            <a:off x="8615363" y="102870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Волков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Иван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4" name="Oval 232" descr="Месник Тамара&#10;"/>
          <p:cNvSpPr>
            <a:spLocks noChangeArrowheads="1"/>
          </p:cNvSpPr>
          <p:nvPr/>
        </p:nvSpPr>
        <p:spPr bwMode="auto">
          <a:xfrm>
            <a:off x="3662363" y="47815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Тамара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5" name="Text Box 233" descr="Фримерман Арон"/>
          <p:cNvSpPr txBox="1">
            <a:spLocks noChangeArrowheads="1"/>
          </p:cNvSpPr>
          <p:nvPr/>
        </p:nvSpPr>
        <p:spPr bwMode="auto">
          <a:xfrm>
            <a:off x="3509963" y="43243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Фримерман Арон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6" name="Text Box 234" descr="Месник Вениамин"/>
          <p:cNvSpPr txBox="1">
            <a:spLocks noChangeArrowheads="1"/>
          </p:cNvSpPr>
          <p:nvPr/>
        </p:nvSpPr>
        <p:spPr bwMode="auto">
          <a:xfrm>
            <a:off x="8843963" y="47815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Вениамин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7" name="Oval 235" descr="Землинская Юдифь &#10;"/>
          <p:cNvSpPr>
            <a:spLocks noChangeArrowheads="1"/>
          </p:cNvSpPr>
          <p:nvPr/>
        </p:nvSpPr>
        <p:spPr bwMode="auto">
          <a:xfrm>
            <a:off x="8462963" y="4400550"/>
            <a:ext cx="6096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Землинская Юдифь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8" name="Oval 236" descr="Месник Марианна&#10;"/>
          <p:cNvSpPr>
            <a:spLocks noChangeArrowheads="1"/>
          </p:cNvSpPr>
          <p:nvPr/>
        </p:nvSpPr>
        <p:spPr bwMode="auto">
          <a:xfrm>
            <a:off x="8043863" y="38290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Марианна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9" name="Text Box 237" descr="Месник &#10;Олег&#10;"/>
          <p:cNvSpPr txBox="1">
            <a:spLocks noChangeArrowheads="1"/>
          </p:cNvSpPr>
          <p:nvPr/>
        </p:nvSpPr>
        <p:spPr bwMode="auto">
          <a:xfrm>
            <a:off x="9148763" y="38290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sng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sng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Олег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0" name="Text Box 238" descr="Валейшо Артур&#10;"/>
          <p:cNvSpPr txBox="1">
            <a:spLocks noChangeArrowheads="1"/>
          </p:cNvSpPr>
          <p:nvPr/>
        </p:nvSpPr>
        <p:spPr bwMode="auto">
          <a:xfrm>
            <a:off x="7700963" y="34480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Валейшо Артур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1" name="Oval 239" descr="Валейшо Алла&#10;"/>
          <p:cNvSpPr>
            <a:spLocks noChangeArrowheads="1"/>
          </p:cNvSpPr>
          <p:nvPr/>
        </p:nvSpPr>
        <p:spPr bwMode="auto">
          <a:xfrm>
            <a:off x="8501063" y="29146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Валейшо Алла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2" name="Text Box 240" descr="Прокопенко Сергей&#10;"/>
          <p:cNvSpPr txBox="1">
            <a:spLocks noChangeArrowheads="1"/>
          </p:cNvSpPr>
          <p:nvPr/>
        </p:nvSpPr>
        <p:spPr bwMode="auto">
          <a:xfrm>
            <a:off x="8310563" y="25336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Прокопенко Сергей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3" name="Text Box 241" descr="Прокопенко Анатолий&#10;"/>
          <p:cNvSpPr txBox="1">
            <a:spLocks noChangeArrowheads="1"/>
          </p:cNvSpPr>
          <p:nvPr/>
        </p:nvSpPr>
        <p:spPr bwMode="auto">
          <a:xfrm>
            <a:off x="8882063" y="20383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Прокопенко Анатолий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4" name="Oval 242" descr="Авцина Рейзл &#10;"/>
          <p:cNvSpPr>
            <a:spLocks noChangeArrowheads="1"/>
          </p:cNvSpPr>
          <p:nvPr/>
        </p:nvSpPr>
        <p:spPr bwMode="auto">
          <a:xfrm>
            <a:off x="9072563" y="34480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Авцина Рейзл 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5" name="Oval 243" descr="Месник Анна&#10;"/>
          <p:cNvSpPr>
            <a:spLocks noChangeArrowheads="1"/>
          </p:cNvSpPr>
          <p:nvPr/>
        </p:nvSpPr>
        <p:spPr bwMode="auto">
          <a:xfrm>
            <a:off x="9529763" y="29908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Анна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6" name="Text Box 244" descr="Шер Михаил&#10;"/>
          <p:cNvSpPr txBox="1">
            <a:spLocks noChangeArrowheads="1"/>
          </p:cNvSpPr>
          <p:nvPr/>
        </p:nvSpPr>
        <p:spPr bwMode="auto">
          <a:xfrm>
            <a:off x="9415463" y="26098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Шер Михаил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7" name="Text Box 245" descr="Шер Олег&#10;"/>
          <p:cNvSpPr txBox="1">
            <a:spLocks noChangeArrowheads="1"/>
          </p:cNvSpPr>
          <p:nvPr/>
        </p:nvSpPr>
        <p:spPr bwMode="auto">
          <a:xfrm>
            <a:off x="9948863" y="20383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8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Шер Олег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8" name="Text Box 246" descr="Шер Александр&#10;"/>
          <p:cNvSpPr txBox="1">
            <a:spLocks noChangeArrowheads="1"/>
          </p:cNvSpPr>
          <p:nvPr/>
        </p:nvSpPr>
        <p:spPr bwMode="auto">
          <a:xfrm>
            <a:off x="10710863" y="20383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Шер Александр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9" name="Oval 247" descr="Месник Мария&#10;"/>
          <p:cNvSpPr>
            <a:spLocks noChangeArrowheads="1"/>
          </p:cNvSpPr>
          <p:nvPr/>
        </p:nvSpPr>
        <p:spPr bwMode="auto">
          <a:xfrm>
            <a:off x="10367963" y="47815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Мария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0" name="Text Box 248" descr="Муж Маруси"/>
          <p:cNvSpPr txBox="1">
            <a:spLocks noChangeArrowheads="1"/>
          </p:cNvSpPr>
          <p:nvPr/>
        </p:nvSpPr>
        <p:spPr bwMode="auto">
          <a:xfrm>
            <a:off x="9872663" y="44386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1" name="Oval 249" descr="Рахиль, дочь Маруси"/>
          <p:cNvSpPr>
            <a:spLocks noChangeArrowheads="1"/>
          </p:cNvSpPr>
          <p:nvPr/>
        </p:nvSpPr>
        <p:spPr bwMode="auto">
          <a:xfrm>
            <a:off x="9986963" y="38671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8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Рахиль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2" name="Oval 250" descr="Рахиль, дочь Маруси"/>
          <p:cNvSpPr>
            <a:spLocks noChangeArrowheads="1"/>
          </p:cNvSpPr>
          <p:nvPr/>
        </p:nvSpPr>
        <p:spPr bwMode="auto">
          <a:xfrm>
            <a:off x="10787063" y="38671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8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Любовь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3" name="Text Box 251" descr="Месник &#10;Моисей&#10;"/>
          <p:cNvSpPr txBox="1">
            <a:spLocks noChangeArrowheads="1"/>
          </p:cNvSpPr>
          <p:nvPr/>
        </p:nvSpPr>
        <p:spPr bwMode="auto">
          <a:xfrm>
            <a:off x="6100763" y="53530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Моисей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4" name="Oval 252" descr="Лекова Анна"/>
          <p:cNvSpPr>
            <a:spLocks noChangeArrowheads="1"/>
          </p:cNvSpPr>
          <p:nvPr/>
        </p:nvSpPr>
        <p:spPr bwMode="auto">
          <a:xfrm>
            <a:off x="1071563" y="6667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Лекова Анна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5" name="Line 253"/>
          <p:cNvSpPr>
            <a:spLocks noChangeShapeType="1"/>
          </p:cNvSpPr>
          <p:nvPr/>
        </p:nvSpPr>
        <p:spPr bwMode="auto">
          <a:xfrm>
            <a:off x="1757363" y="5238750"/>
            <a:ext cx="89154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6" name="Line 254"/>
          <p:cNvSpPr>
            <a:spLocks noChangeShapeType="1"/>
          </p:cNvSpPr>
          <p:nvPr/>
        </p:nvSpPr>
        <p:spPr bwMode="auto">
          <a:xfrm>
            <a:off x="1147763" y="4171950"/>
            <a:ext cx="28575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7" name="Line 255"/>
          <p:cNvSpPr>
            <a:spLocks noChangeShapeType="1"/>
          </p:cNvSpPr>
          <p:nvPr/>
        </p:nvSpPr>
        <p:spPr bwMode="auto">
          <a:xfrm>
            <a:off x="2138363" y="4095750"/>
            <a:ext cx="0" cy="8382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8" name="Line 256"/>
          <p:cNvSpPr>
            <a:spLocks noChangeShapeType="1"/>
          </p:cNvSpPr>
          <p:nvPr/>
        </p:nvSpPr>
        <p:spPr bwMode="auto">
          <a:xfrm>
            <a:off x="2024063" y="4933950"/>
            <a:ext cx="1143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59" name="Line 257"/>
          <p:cNvSpPr>
            <a:spLocks noChangeShapeType="1"/>
          </p:cNvSpPr>
          <p:nvPr/>
        </p:nvSpPr>
        <p:spPr bwMode="auto">
          <a:xfrm>
            <a:off x="1947863" y="4476750"/>
            <a:ext cx="1905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0" name="Line 258"/>
          <p:cNvSpPr>
            <a:spLocks noChangeShapeType="1"/>
          </p:cNvSpPr>
          <p:nvPr/>
        </p:nvSpPr>
        <p:spPr bwMode="auto">
          <a:xfrm>
            <a:off x="1147763" y="4095750"/>
            <a:ext cx="0" cy="762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1" name="Line 259"/>
          <p:cNvSpPr>
            <a:spLocks noChangeShapeType="1"/>
          </p:cNvSpPr>
          <p:nvPr/>
        </p:nvSpPr>
        <p:spPr bwMode="auto">
          <a:xfrm>
            <a:off x="4005263" y="4057650"/>
            <a:ext cx="0" cy="114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2" name="Line 260"/>
          <p:cNvSpPr>
            <a:spLocks noChangeShapeType="1"/>
          </p:cNvSpPr>
          <p:nvPr/>
        </p:nvSpPr>
        <p:spPr bwMode="auto">
          <a:xfrm>
            <a:off x="1109663" y="3257550"/>
            <a:ext cx="0" cy="533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3" name="Line 261"/>
          <p:cNvSpPr>
            <a:spLocks noChangeShapeType="1"/>
          </p:cNvSpPr>
          <p:nvPr/>
        </p:nvSpPr>
        <p:spPr bwMode="auto">
          <a:xfrm>
            <a:off x="1033463" y="356235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4" name="Line 262"/>
          <p:cNvSpPr>
            <a:spLocks noChangeShapeType="1"/>
          </p:cNvSpPr>
          <p:nvPr/>
        </p:nvSpPr>
        <p:spPr bwMode="auto">
          <a:xfrm>
            <a:off x="1985963" y="3371850"/>
            <a:ext cx="57150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5" name="Line 263"/>
          <p:cNvSpPr>
            <a:spLocks noChangeShapeType="1"/>
          </p:cNvSpPr>
          <p:nvPr/>
        </p:nvSpPr>
        <p:spPr bwMode="auto">
          <a:xfrm flipV="1">
            <a:off x="1985963" y="3295650"/>
            <a:ext cx="0" cy="762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6" name="Line 264"/>
          <p:cNvSpPr>
            <a:spLocks noChangeShapeType="1"/>
          </p:cNvSpPr>
          <p:nvPr/>
        </p:nvSpPr>
        <p:spPr bwMode="auto">
          <a:xfrm flipV="1">
            <a:off x="7700963" y="3219450"/>
            <a:ext cx="0" cy="152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7" name="Line 265"/>
          <p:cNvSpPr>
            <a:spLocks noChangeShapeType="1"/>
          </p:cNvSpPr>
          <p:nvPr/>
        </p:nvSpPr>
        <p:spPr bwMode="auto">
          <a:xfrm flipV="1">
            <a:off x="6100763" y="3257550"/>
            <a:ext cx="0" cy="114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8" name="Line 266"/>
          <p:cNvSpPr>
            <a:spLocks noChangeShapeType="1"/>
          </p:cNvSpPr>
          <p:nvPr/>
        </p:nvSpPr>
        <p:spPr bwMode="auto">
          <a:xfrm flipV="1">
            <a:off x="3624263" y="3257550"/>
            <a:ext cx="0" cy="114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69" name="Line 267"/>
          <p:cNvSpPr>
            <a:spLocks noChangeShapeType="1"/>
          </p:cNvSpPr>
          <p:nvPr/>
        </p:nvSpPr>
        <p:spPr bwMode="auto">
          <a:xfrm>
            <a:off x="4005263" y="2571750"/>
            <a:ext cx="9144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0" name="Line 268"/>
          <p:cNvSpPr>
            <a:spLocks noChangeShapeType="1"/>
          </p:cNvSpPr>
          <p:nvPr/>
        </p:nvSpPr>
        <p:spPr bwMode="auto">
          <a:xfrm flipV="1">
            <a:off x="4005263" y="2419350"/>
            <a:ext cx="0" cy="152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1" name="Line 269"/>
          <p:cNvSpPr>
            <a:spLocks noChangeShapeType="1"/>
          </p:cNvSpPr>
          <p:nvPr/>
        </p:nvSpPr>
        <p:spPr bwMode="auto">
          <a:xfrm flipV="1">
            <a:off x="4919663" y="2419350"/>
            <a:ext cx="0" cy="152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2" name="Line 270"/>
          <p:cNvSpPr>
            <a:spLocks noChangeShapeType="1"/>
          </p:cNvSpPr>
          <p:nvPr/>
        </p:nvSpPr>
        <p:spPr bwMode="auto">
          <a:xfrm>
            <a:off x="3548063" y="2724150"/>
            <a:ext cx="6477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3" name="Line 271"/>
          <p:cNvSpPr>
            <a:spLocks noChangeShapeType="1"/>
          </p:cNvSpPr>
          <p:nvPr/>
        </p:nvSpPr>
        <p:spPr bwMode="auto">
          <a:xfrm>
            <a:off x="3929063" y="3105150"/>
            <a:ext cx="2667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4" name="Line 272"/>
          <p:cNvSpPr>
            <a:spLocks noChangeShapeType="1"/>
          </p:cNvSpPr>
          <p:nvPr/>
        </p:nvSpPr>
        <p:spPr bwMode="auto">
          <a:xfrm flipV="1">
            <a:off x="4195763" y="2571750"/>
            <a:ext cx="0" cy="533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5" name="Line 273"/>
          <p:cNvSpPr>
            <a:spLocks noChangeShapeType="1"/>
          </p:cNvSpPr>
          <p:nvPr/>
        </p:nvSpPr>
        <p:spPr bwMode="auto">
          <a:xfrm flipH="1">
            <a:off x="2862263" y="3105150"/>
            <a:ext cx="4953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6" name="Line 274"/>
          <p:cNvSpPr>
            <a:spLocks noChangeShapeType="1"/>
          </p:cNvSpPr>
          <p:nvPr/>
        </p:nvSpPr>
        <p:spPr bwMode="auto">
          <a:xfrm flipV="1">
            <a:off x="2862263" y="2419350"/>
            <a:ext cx="0" cy="6858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7" name="Line 275"/>
          <p:cNvSpPr>
            <a:spLocks noChangeShapeType="1"/>
          </p:cNvSpPr>
          <p:nvPr/>
        </p:nvSpPr>
        <p:spPr bwMode="auto">
          <a:xfrm>
            <a:off x="3128963" y="2266950"/>
            <a:ext cx="2286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8" name="Line 276"/>
          <p:cNvSpPr>
            <a:spLocks noChangeShapeType="1"/>
          </p:cNvSpPr>
          <p:nvPr/>
        </p:nvSpPr>
        <p:spPr bwMode="auto">
          <a:xfrm flipV="1">
            <a:off x="3357563" y="1352550"/>
            <a:ext cx="0" cy="914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79" name="Line 277"/>
          <p:cNvSpPr>
            <a:spLocks noChangeShapeType="1"/>
          </p:cNvSpPr>
          <p:nvPr/>
        </p:nvSpPr>
        <p:spPr bwMode="auto">
          <a:xfrm>
            <a:off x="3052763" y="1657350"/>
            <a:ext cx="3048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0" name="Line 278"/>
          <p:cNvSpPr>
            <a:spLocks noChangeShapeType="1"/>
          </p:cNvSpPr>
          <p:nvPr/>
        </p:nvSpPr>
        <p:spPr bwMode="auto">
          <a:xfrm>
            <a:off x="3357563" y="1466850"/>
            <a:ext cx="6858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1" name="Line 279"/>
          <p:cNvSpPr>
            <a:spLocks noChangeShapeType="1"/>
          </p:cNvSpPr>
          <p:nvPr/>
        </p:nvSpPr>
        <p:spPr bwMode="auto">
          <a:xfrm flipV="1">
            <a:off x="4043363" y="1314450"/>
            <a:ext cx="0" cy="152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2" name="Line 280"/>
          <p:cNvSpPr>
            <a:spLocks noChangeShapeType="1"/>
          </p:cNvSpPr>
          <p:nvPr/>
        </p:nvSpPr>
        <p:spPr bwMode="auto">
          <a:xfrm flipV="1">
            <a:off x="1947863" y="2419350"/>
            <a:ext cx="0" cy="5715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3" name="Line 281"/>
          <p:cNvSpPr>
            <a:spLocks noChangeShapeType="1"/>
          </p:cNvSpPr>
          <p:nvPr/>
        </p:nvSpPr>
        <p:spPr bwMode="auto">
          <a:xfrm>
            <a:off x="2252663" y="226695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4" name="Line 282"/>
          <p:cNvSpPr>
            <a:spLocks noChangeShapeType="1"/>
          </p:cNvSpPr>
          <p:nvPr/>
        </p:nvSpPr>
        <p:spPr bwMode="auto">
          <a:xfrm flipV="1">
            <a:off x="2328863" y="1428750"/>
            <a:ext cx="0" cy="8382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5" name="Line 283"/>
          <p:cNvSpPr>
            <a:spLocks noChangeShapeType="1"/>
          </p:cNvSpPr>
          <p:nvPr/>
        </p:nvSpPr>
        <p:spPr bwMode="auto">
          <a:xfrm>
            <a:off x="1757363" y="1428750"/>
            <a:ext cx="7620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6" name="Line 284"/>
          <p:cNvSpPr>
            <a:spLocks noChangeShapeType="1"/>
          </p:cNvSpPr>
          <p:nvPr/>
        </p:nvSpPr>
        <p:spPr bwMode="auto">
          <a:xfrm>
            <a:off x="1757363" y="1314450"/>
            <a:ext cx="0" cy="114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7" name="Line 285"/>
          <p:cNvSpPr>
            <a:spLocks noChangeShapeType="1"/>
          </p:cNvSpPr>
          <p:nvPr/>
        </p:nvSpPr>
        <p:spPr bwMode="auto">
          <a:xfrm>
            <a:off x="2519363" y="1314450"/>
            <a:ext cx="0" cy="114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8" name="Line 286"/>
          <p:cNvSpPr>
            <a:spLocks noChangeShapeType="1"/>
          </p:cNvSpPr>
          <p:nvPr/>
        </p:nvSpPr>
        <p:spPr bwMode="auto">
          <a:xfrm>
            <a:off x="2100263" y="1771650"/>
            <a:ext cx="2286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89" name="Line 287"/>
          <p:cNvSpPr>
            <a:spLocks noChangeShapeType="1"/>
          </p:cNvSpPr>
          <p:nvPr/>
        </p:nvSpPr>
        <p:spPr bwMode="auto">
          <a:xfrm>
            <a:off x="2024063" y="120015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0" name="Line 288"/>
          <p:cNvSpPr>
            <a:spLocks noChangeShapeType="1"/>
          </p:cNvSpPr>
          <p:nvPr/>
        </p:nvSpPr>
        <p:spPr bwMode="auto">
          <a:xfrm flipV="1">
            <a:off x="2100263" y="381000"/>
            <a:ext cx="0" cy="81915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1" name="Line 289"/>
          <p:cNvSpPr>
            <a:spLocks noChangeShapeType="1"/>
          </p:cNvSpPr>
          <p:nvPr/>
        </p:nvSpPr>
        <p:spPr bwMode="auto">
          <a:xfrm>
            <a:off x="1643063" y="781050"/>
            <a:ext cx="457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2" name="Line 290"/>
          <p:cNvSpPr>
            <a:spLocks noChangeShapeType="1"/>
          </p:cNvSpPr>
          <p:nvPr/>
        </p:nvSpPr>
        <p:spPr bwMode="auto">
          <a:xfrm>
            <a:off x="4233863" y="1771650"/>
            <a:ext cx="1524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3" name="Line 291"/>
          <p:cNvSpPr>
            <a:spLocks noChangeShapeType="1"/>
          </p:cNvSpPr>
          <p:nvPr/>
        </p:nvSpPr>
        <p:spPr bwMode="auto">
          <a:xfrm>
            <a:off x="4310063" y="226695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4" name="Line 292"/>
          <p:cNvSpPr>
            <a:spLocks noChangeShapeType="1"/>
          </p:cNvSpPr>
          <p:nvPr/>
        </p:nvSpPr>
        <p:spPr bwMode="auto">
          <a:xfrm flipV="1">
            <a:off x="4386263" y="1771650"/>
            <a:ext cx="0" cy="495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5" name="Line 293"/>
          <p:cNvSpPr>
            <a:spLocks noChangeShapeType="1"/>
          </p:cNvSpPr>
          <p:nvPr/>
        </p:nvSpPr>
        <p:spPr bwMode="auto">
          <a:xfrm>
            <a:off x="5072063" y="1771650"/>
            <a:ext cx="1524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6" name="Line 294"/>
          <p:cNvSpPr>
            <a:spLocks noChangeShapeType="1"/>
          </p:cNvSpPr>
          <p:nvPr/>
        </p:nvSpPr>
        <p:spPr bwMode="auto">
          <a:xfrm>
            <a:off x="5148263" y="226695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7" name="Line 295"/>
          <p:cNvSpPr>
            <a:spLocks noChangeShapeType="1"/>
          </p:cNvSpPr>
          <p:nvPr/>
        </p:nvSpPr>
        <p:spPr bwMode="auto">
          <a:xfrm flipV="1">
            <a:off x="5224463" y="1371600"/>
            <a:ext cx="0" cy="89535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8" name="Line 296"/>
          <p:cNvSpPr>
            <a:spLocks noChangeShapeType="1"/>
          </p:cNvSpPr>
          <p:nvPr/>
        </p:nvSpPr>
        <p:spPr bwMode="auto">
          <a:xfrm>
            <a:off x="5986463" y="1771650"/>
            <a:ext cx="1524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299" name="Line 297"/>
          <p:cNvSpPr>
            <a:spLocks noChangeShapeType="1"/>
          </p:cNvSpPr>
          <p:nvPr/>
        </p:nvSpPr>
        <p:spPr bwMode="auto">
          <a:xfrm>
            <a:off x="6062663" y="226695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0" name="Line 298"/>
          <p:cNvSpPr>
            <a:spLocks noChangeShapeType="1"/>
          </p:cNvSpPr>
          <p:nvPr/>
        </p:nvSpPr>
        <p:spPr bwMode="auto">
          <a:xfrm flipV="1">
            <a:off x="6138863" y="1771650"/>
            <a:ext cx="0" cy="495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1" name="Line 299"/>
          <p:cNvSpPr>
            <a:spLocks noChangeShapeType="1"/>
          </p:cNvSpPr>
          <p:nvPr/>
        </p:nvSpPr>
        <p:spPr bwMode="auto">
          <a:xfrm flipV="1">
            <a:off x="8539163" y="1181100"/>
            <a:ext cx="0" cy="10287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2" name="Line 300"/>
          <p:cNvSpPr>
            <a:spLocks noChangeShapeType="1"/>
          </p:cNvSpPr>
          <p:nvPr/>
        </p:nvSpPr>
        <p:spPr bwMode="auto">
          <a:xfrm>
            <a:off x="5795963" y="2533650"/>
            <a:ext cx="7620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3" name="Line 301"/>
          <p:cNvSpPr>
            <a:spLocks noChangeShapeType="1"/>
          </p:cNvSpPr>
          <p:nvPr/>
        </p:nvSpPr>
        <p:spPr bwMode="auto">
          <a:xfrm>
            <a:off x="7434263" y="2495550"/>
            <a:ext cx="7239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4" name="Line 302"/>
          <p:cNvSpPr>
            <a:spLocks noChangeShapeType="1"/>
          </p:cNvSpPr>
          <p:nvPr/>
        </p:nvSpPr>
        <p:spPr bwMode="auto">
          <a:xfrm flipV="1">
            <a:off x="5795963" y="2419350"/>
            <a:ext cx="0" cy="114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5" name="Line 303"/>
          <p:cNvSpPr>
            <a:spLocks noChangeShapeType="1"/>
          </p:cNvSpPr>
          <p:nvPr/>
        </p:nvSpPr>
        <p:spPr bwMode="auto">
          <a:xfrm flipV="1">
            <a:off x="6557963" y="2419350"/>
            <a:ext cx="0" cy="114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6" name="Line 304"/>
          <p:cNvSpPr>
            <a:spLocks noChangeShapeType="1"/>
          </p:cNvSpPr>
          <p:nvPr/>
        </p:nvSpPr>
        <p:spPr bwMode="auto">
          <a:xfrm flipV="1">
            <a:off x="7434263" y="2381250"/>
            <a:ext cx="0" cy="114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7" name="Line 305"/>
          <p:cNvSpPr>
            <a:spLocks noChangeShapeType="1"/>
          </p:cNvSpPr>
          <p:nvPr/>
        </p:nvSpPr>
        <p:spPr bwMode="auto">
          <a:xfrm flipV="1">
            <a:off x="8158163" y="2381250"/>
            <a:ext cx="0" cy="114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8" name="Line 306"/>
          <p:cNvSpPr>
            <a:spLocks noChangeShapeType="1"/>
          </p:cNvSpPr>
          <p:nvPr/>
        </p:nvSpPr>
        <p:spPr bwMode="auto">
          <a:xfrm flipV="1">
            <a:off x="6176963" y="2533650"/>
            <a:ext cx="0" cy="4191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09" name="Line 307"/>
          <p:cNvSpPr>
            <a:spLocks noChangeShapeType="1"/>
          </p:cNvSpPr>
          <p:nvPr/>
        </p:nvSpPr>
        <p:spPr bwMode="auto">
          <a:xfrm>
            <a:off x="6100763" y="276225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0" name="Line 308"/>
          <p:cNvSpPr>
            <a:spLocks noChangeShapeType="1"/>
          </p:cNvSpPr>
          <p:nvPr/>
        </p:nvSpPr>
        <p:spPr bwMode="auto">
          <a:xfrm flipV="1">
            <a:off x="7700963" y="2495550"/>
            <a:ext cx="0" cy="4191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1" name="Line 309"/>
          <p:cNvSpPr>
            <a:spLocks noChangeShapeType="1"/>
          </p:cNvSpPr>
          <p:nvPr/>
        </p:nvSpPr>
        <p:spPr bwMode="auto">
          <a:xfrm>
            <a:off x="4081463" y="4438650"/>
            <a:ext cx="4191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2" name="Line 310"/>
          <p:cNvSpPr>
            <a:spLocks noChangeShapeType="1"/>
          </p:cNvSpPr>
          <p:nvPr/>
        </p:nvSpPr>
        <p:spPr bwMode="auto">
          <a:xfrm>
            <a:off x="4500563" y="4438650"/>
            <a:ext cx="0" cy="4572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3" name="Line 311"/>
          <p:cNvSpPr>
            <a:spLocks noChangeShapeType="1"/>
          </p:cNvSpPr>
          <p:nvPr/>
        </p:nvSpPr>
        <p:spPr bwMode="auto">
          <a:xfrm>
            <a:off x="4233863" y="4895850"/>
            <a:ext cx="2667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4" name="Line 312"/>
          <p:cNvSpPr>
            <a:spLocks noChangeShapeType="1"/>
          </p:cNvSpPr>
          <p:nvPr/>
        </p:nvSpPr>
        <p:spPr bwMode="auto">
          <a:xfrm>
            <a:off x="1757363" y="5086350"/>
            <a:ext cx="0" cy="152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5" name="Line 313"/>
          <p:cNvSpPr>
            <a:spLocks noChangeShapeType="1"/>
          </p:cNvSpPr>
          <p:nvPr/>
        </p:nvSpPr>
        <p:spPr bwMode="auto">
          <a:xfrm>
            <a:off x="3967163" y="5086350"/>
            <a:ext cx="0" cy="152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6" name="Line 314"/>
          <p:cNvSpPr>
            <a:spLocks noChangeShapeType="1"/>
          </p:cNvSpPr>
          <p:nvPr/>
        </p:nvSpPr>
        <p:spPr bwMode="auto">
          <a:xfrm>
            <a:off x="9148763" y="5086350"/>
            <a:ext cx="0" cy="152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7" name="Line 315"/>
          <p:cNvSpPr>
            <a:spLocks noChangeShapeType="1"/>
          </p:cNvSpPr>
          <p:nvPr/>
        </p:nvSpPr>
        <p:spPr bwMode="auto">
          <a:xfrm>
            <a:off x="10672763" y="5086350"/>
            <a:ext cx="0" cy="152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8" name="Line 316"/>
          <p:cNvSpPr>
            <a:spLocks noChangeShapeType="1"/>
          </p:cNvSpPr>
          <p:nvPr/>
        </p:nvSpPr>
        <p:spPr bwMode="auto">
          <a:xfrm>
            <a:off x="8348663" y="4286250"/>
            <a:ext cx="10287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19" name="Line 317"/>
          <p:cNvSpPr>
            <a:spLocks noChangeShapeType="1"/>
          </p:cNvSpPr>
          <p:nvPr/>
        </p:nvSpPr>
        <p:spPr bwMode="auto">
          <a:xfrm flipV="1">
            <a:off x="8348663" y="4133850"/>
            <a:ext cx="0" cy="152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0" name="Line 318"/>
          <p:cNvSpPr>
            <a:spLocks noChangeShapeType="1"/>
          </p:cNvSpPr>
          <p:nvPr/>
        </p:nvSpPr>
        <p:spPr bwMode="auto">
          <a:xfrm flipV="1">
            <a:off x="9377363" y="4133850"/>
            <a:ext cx="0" cy="152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1" name="Line 319"/>
          <p:cNvSpPr>
            <a:spLocks noChangeShapeType="1"/>
          </p:cNvSpPr>
          <p:nvPr/>
        </p:nvSpPr>
        <p:spPr bwMode="auto">
          <a:xfrm flipV="1">
            <a:off x="9148763" y="4286250"/>
            <a:ext cx="0" cy="495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2" name="Line 320"/>
          <p:cNvSpPr>
            <a:spLocks noChangeShapeType="1"/>
          </p:cNvSpPr>
          <p:nvPr/>
        </p:nvSpPr>
        <p:spPr bwMode="auto">
          <a:xfrm>
            <a:off x="9072563" y="455295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3" name="Line 321"/>
          <p:cNvSpPr>
            <a:spLocks noChangeShapeType="1"/>
          </p:cNvSpPr>
          <p:nvPr/>
        </p:nvSpPr>
        <p:spPr bwMode="auto">
          <a:xfrm>
            <a:off x="8615363" y="3943350"/>
            <a:ext cx="1905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4" name="Line 322"/>
          <p:cNvSpPr>
            <a:spLocks noChangeShapeType="1"/>
          </p:cNvSpPr>
          <p:nvPr/>
        </p:nvSpPr>
        <p:spPr bwMode="auto">
          <a:xfrm flipV="1">
            <a:off x="8805863" y="3181350"/>
            <a:ext cx="0" cy="7620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5" name="Line 323"/>
          <p:cNvSpPr>
            <a:spLocks noChangeShapeType="1"/>
          </p:cNvSpPr>
          <p:nvPr/>
        </p:nvSpPr>
        <p:spPr bwMode="auto">
          <a:xfrm>
            <a:off x="8272463" y="3600450"/>
            <a:ext cx="5334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6" name="Line 324"/>
          <p:cNvSpPr>
            <a:spLocks noChangeShapeType="1"/>
          </p:cNvSpPr>
          <p:nvPr/>
        </p:nvSpPr>
        <p:spPr bwMode="auto">
          <a:xfrm>
            <a:off x="9072563" y="3028950"/>
            <a:ext cx="1143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7" name="Line 325"/>
          <p:cNvSpPr>
            <a:spLocks noChangeShapeType="1"/>
          </p:cNvSpPr>
          <p:nvPr/>
        </p:nvSpPr>
        <p:spPr bwMode="auto">
          <a:xfrm flipV="1">
            <a:off x="9186863" y="2343150"/>
            <a:ext cx="0" cy="6858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8" name="Line 326"/>
          <p:cNvSpPr>
            <a:spLocks noChangeShapeType="1"/>
          </p:cNvSpPr>
          <p:nvPr/>
        </p:nvSpPr>
        <p:spPr bwMode="auto">
          <a:xfrm>
            <a:off x="8882063" y="2686050"/>
            <a:ext cx="3048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29" name="Line 327"/>
          <p:cNvSpPr>
            <a:spLocks noChangeShapeType="1"/>
          </p:cNvSpPr>
          <p:nvPr/>
        </p:nvSpPr>
        <p:spPr bwMode="auto">
          <a:xfrm>
            <a:off x="9720263" y="3981450"/>
            <a:ext cx="1143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0" name="Line 328"/>
          <p:cNvSpPr>
            <a:spLocks noChangeShapeType="1"/>
          </p:cNvSpPr>
          <p:nvPr/>
        </p:nvSpPr>
        <p:spPr bwMode="auto">
          <a:xfrm flipV="1">
            <a:off x="9834563" y="3257550"/>
            <a:ext cx="0" cy="7239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1" name="Line 329"/>
          <p:cNvSpPr>
            <a:spLocks noChangeShapeType="1"/>
          </p:cNvSpPr>
          <p:nvPr/>
        </p:nvSpPr>
        <p:spPr bwMode="auto">
          <a:xfrm>
            <a:off x="9644063" y="3600450"/>
            <a:ext cx="1905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2" name="Line 330"/>
          <p:cNvSpPr>
            <a:spLocks noChangeShapeType="1"/>
          </p:cNvSpPr>
          <p:nvPr/>
        </p:nvSpPr>
        <p:spPr bwMode="auto">
          <a:xfrm>
            <a:off x="10101263" y="314325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3" name="Line 331"/>
          <p:cNvSpPr>
            <a:spLocks noChangeShapeType="1"/>
          </p:cNvSpPr>
          <p:nvPr/>
        </p:nvSpPr>
        <p:spPr bwMode="auto">
          <a:xfrm flipV="1">
            <a:off x="10177463" y="2343150"/>
            <a:ext cx="0" cy="8001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4" name="Line 332"/>
          <p:cNvSpPr>
            <a:spLocks noChangeShapeType="1"/>
          </p:cNvSpPr>
          <p:nvPr/>
        </p:nvSpPr>
        <p:spPr bwMode="auto">
          <a:xfrm>
            <a:off x="9986963" y="2762250"/>
            <a:ext cx="1905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5" name="Line 333"/>
          <p:cNvSpPr>
            <a:spLocks noChangeShapeType="1"/>
          </p:cNvSpPr>
          <p:nvPr/>
        </p:nvSpPr>
        <p:spPr bwMode="auto">
          <a:xfrm>
            <a:off x="10177463" y="2457450"/>
            <a:ext cx="838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6" name="Line 334"/>
          <p:cNvSpPr>
            <a:spLocks noChangeShapeType="1"/>
          </p:cNvSpPr>
          <p:nvPr/>
        </p:nvSpPr>
        <p:spPr bwMode="auto">
          <a:xfrm flipV="1">
            <a:off x="11015663" y="2343150"/>
            <a:ext cx="0" cy="114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7" name="Line 335"/>
          <p:cNvSpPr>
            <a:spLocks noChangeShapeType="1"/>
          </p:cNvSpPr>
          <p:nvPr/>
        </p:nvSpPr>
        <p:spPr bwMode="auto">
          <a:xfrm>
            <a:off x="10253663" y="4286250"/>
            <a:ext cx="8001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8" name="Line 336"/>
          <p:cNvSpPr>
            <a:spLocks noChangeShapeType="1"/>
          </p:cNvSpPr>
          <p:nvPr/>
        </p:nvSpPr>
        <p:spPr bwMode="auto">
          <a:xfrm flipV="1">
            <a:off x="10253663" y="4171950"/>
            <a:ext cx="0" cy="114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39" name="Line 337"/>
          <p:cNvSpPr>
            <a:spLocks noChangeShapeType="1"/>
          </p:cNvSpPr>
          <p:nvPr/>
        </p:nvSpPr>
        <p:spPr bwMode="auto">
          <a:xfrm flipV="1">
            <a:off x="11053763" y="4171950"/>
            <a:ext cx="0" cy="114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0" name="Line 338"/>
          <p:cNvSpPr>
            <a:spLocks noChangeShapeType="1"/>
          </p:cNvSpPr>
          <p:nvPr/>
        </p:nvSpPr>
        <p:spPr bwMode="auto">
          <a:xfrm>
            <a:off x="10672763" y="4286250"/>
            <a:ext cx="0" cy="495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1" name="Line 339"/>
          <p:cNvSpPr>
            <a:spLocks noChangeShapeType="1"/>
          </p:cNvSpPr>
          <p:nvPr/>
        </p:nvSpPr>
        <p:spPr bwMode="auto">
          <a:xfrm>
            <a:off x="10444163" y="4591050"/>
            <a:ext cx="2286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2" name="Text Box 340" descr="Месник &#10;Лазарь&#10;"/>
          <p:cNvSpPr txBox="1">
            <a:spLocks noChangeArrowheads="1"/>
          </p:cNvSpPr>
          <p:nvPr/>
        </p:nvSpPr>
        <p:spPr bwMode="auto">
          <a:xfrm>
            <a:off x="6100763" y="47815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Лазарь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3" name="Oval 341"/>
          <p:cNvSpPr>
            <a:spLocks noChangeArrowheads="1"/>
          </p:cNvSpPr>
          <p:nvPr/>
        </p:nvSpPr>
        <p:spPr bwMode="auto">
          <a:xfrm>
            <a:off x="5757863" y="44005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4" name="Oval 342"/>
          <p:cNvSpPr>
            <a:spLocks noChangeArrowheads="1"/>
          </p:cNvSpPr>
          <p:nvPr/>
        </p:nvSpPr>
        <p:spPr bwMode="auto">
          <a:xfrm>
            <a:off x="5300663" y="38290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5" name="Text Box 343"/>
          <p:cNvSpPr txBox="1">
            <a:spLocks noChangeArrowheads="1"/>
          </p:cNvSpPr>
          <p:nvPr/>
        </p:nvSpPr>
        <p:spPr bwMode="auto">
          <a:xfrm>
            <a:off x="6405563" y="382905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6" name="Line 344"/>
          <p:cNvSpPr>
            <a:spLocks noChangeShapeType="1"/>
          </p:cNvSpPr>
          <p:nvPr/>
        </p:nvSpPr>
        <p:spPr bwMode="auto">
          <a:xfrm>
            <a:off x="6405563" y="5086350"/>
            <a:ext cx="0" cy="2667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7" name="Line 345"/>
          <p:cNvSpPr>
            <a:spLocks noChangeShapeType="1"/>
          </p:cNvSpPr>
          <p:nvPr/>
        </p:nvSpPr>
        <p:spPr bwMode="auto">
          <a:xfrm>
            <a:off x="5605463" y="4286250"/>
            <a:ext cx="10287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8" name="Line 346"/>
          <p:cNvSpPr>
            <a:spLocks noChangeShapeType="1"/>
          </p:cNvSpPr>
          <p:nvPr/>
        </p:nvSpPr>
        <p:spPr bwMode="auto">
          <a:xfrm flipV="1">
            <a:off x="5605463" y="4133850"/>
            <a:ext cx="0" cy="152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49" name="Line 347"/>
          <p:cNvSpPr>
            <a:spLocks noChangeShapeType="1"/>
          </p:cNvSpPr>
          <p:nvPr/>
        </p:nvSpPr>
        <p:spPr bwMode="auto">
          <a:xfrm flipV="1">
            <a:off x="6634163" y="4133850"/>
            <a:ext cx="0" cy="152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0" name="Line 348"/>
          <p:cNvSpPr>
            <a:spLocks noChangeShapeType="1"/>
          </p:cNvSpPr>
          <p:nvPr/>
        </p:nvSpPr>
        <p:spPr bwMode="auto">
          <a:xfrm flipV="1">
            <a:off x="6405563" y="4286250"/>
            <a:ext cx="0" cy="495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1" name="Line 349"/>
          <p:cNvSpPr>
            <a:spLocks noChangeShapeType="1"/>
          </p:cNvSpPr>
          <p:nvPr/>
        </p:nvSpPr>
        <p:spPr bwMode="auto">
          <a:xfrm>
            <a:off x="6329363" y="455295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2" name="Line 350"/>
          <p:cNvSpPr>
            <a:spLocks noChangeShapeType="1"/>
          </p:cNvSpPr>
          <p:nvPr/>
        </p:nvSpPr>
        <p:spPr bwMode="auto">
          <a:xfrm>
            <a:off x="4271963" y="3943350"/>
            <a:ext cx="1524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3" name="Line 351"/>
          <p:cNvSpPr>
            <a:spLocks noChangeShapeType="1"/>
          </p:cNvSpPr>
          <p:nvPr/>
        </p:nvSpPr>
        <p:spPr bwMode="auto">
          <a:xfrm flipV="1">
            <a:off x="4424363" y="3371850"/>
            <a:ext cx="0" cy="5715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4" name="Line 352"/>
          <p:cNvSpPr>
            <a:spLocks noChangeShapeType="1"/>
          </p:cNvSpPr>
          <p:nvPr/>
        </p:nvSpPr>
        <p:spPr bwMode="auto">
          <a:xfrm>
            <a:off x="4081463" y="3562350"/>
            <a:ext cx="3429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5" name="Oval 353" descr="Валейшо Алла&#10;"/>
          <p:cNvSpPr>
            <a:spLocks noChangeArrowheads="1"/>
          </p:cNvSpPr>
          <p:nvPr/>
        </p:nvSpPr>
        <p:spPr bwMode="auto">
          <a:xfrm>
            <a:off x="8843963" y="160020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Денисова Александра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6" name="Line 354"/>
          <p:cNvSpPr>
            <a:spLocks noChangeShapeType="1"/>
          </p:cNvSpPr>
          <p:nvPr/>
        </p:nvSpPr>
        <p:spPr bwMode="auto">
          <a:xfrm>
            <a:off x="9415463" y="1771650"/>
            <a:ext cx="2667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7" name="Line 355"/>
          <p:cNvSpPr>
            <a:spLocks noChangeShapeType="1"/>
          </p:cNvSpPr>
          <p:nvPr/>
        </p:nvSpPr>
        <p:spPr bwMode="auto">
          <a:xfrm>
            <a:off x="9682163" y="1771650"/>
            <a:ext cx="0" cy="3810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8" name="Line 356"/>
          <p:cNvSpPr>
            <a:spLocks noChangeShapeType="1"/>
          </p:cNvSpPr>
          <p:nvPr/>
        </p:nvSpPr>
        <p:spPr bwMode="auto">
          <a:xfrm flipH="1">
            <a:off x="9453563" y="2152650"/>
            <a:ext cx="2286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59" name="Oval 357" descr="Давыдова Регина&#10;"/>
          <p:cNvSpPr>
            <a:spLocks noChangeArrowheads="1"/>
          </p:cNvSpPr>
          <p:nvPr/>
        </p:nvSpPr>
        <p:spPr bwMode="auto">
          <a:xfrm>
            <a:off x="10444163" y="16192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Давыдова  Регина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0" name="Line 358"/>
          <p:cNvSpPr>
            <a:spLocks noChangeShapeType="1"/>
          </p:cNvSpPr>
          <p:nvPr/>
        </p:nvSpPr>
        <p:spPr bwMode="auto">
          <a:xfrm>
            <a:off x="11015663" y="1771650"/>
            <a:ext cx="3429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61" name="Line 359"/>
          <p:cNvSpPr>
            <a:spLocks noChangeShapeType="1"/>
          </p:cNvSpPr>
          <p:nvPr/>
        </p:nvSpPr>
        <p:spPr bwMode="auto">
          <a:xfrm>
            <a:off x="11358563" y="1276350"/>
            <a:ext cx="0" cy="9144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62" name="Line 360"/>
          <p:cNvSpPr>
            <a:spLocks noChangeShapeType="1"/>
          </p:cNvSpPr>
          <p:nvPr/>
        </p:nvSpPr>
        <p:spPr bwMode="auto">
          <a:xfrm flipH="1">
            <a:off x="11282363" y="219075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63" name="Oval 361" descr="Шер Дана&#10;"/>
          <p:cNvSpPr>
            <a:spLocks noChangeArrowheads="1"/>
          </p:cNvSpPr>
          <p:nvPr/>
        </p:nvSpPr>
        <p:spPr bwMode="auto">
          <a:xfrm>
            <a:off x="10672763" y="112395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Шер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Дана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4" name="Line 362"/>
          <p:cNvSpPr>
            <a:spLocks noChangeShapeType="1"/>
          </p:cNvSpPr>
          <p:nvPr/>
        </p:nvSpPr>
        <p:spPr bwMode="auto">
          <a:xfrm flipH="1">
            <a:off x="11244263" y="1276350"/>
            <a:ext cx="1143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65" name="Text Box 363"/>
          <p:cNvSpPr txBox="1">
            <a:spLocks noChangeArrowheads="1"/>
          </p:cNvSpPr>
          <p:nvPr/>
        </p:nvSpPr>
        <p:spPr bwMode="auto">
          <a:xfrm>
            <a:off x="4763" y="190500"/>
            <a:ext cx="4651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05000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990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smtClean="0">
                <a:ln>
                  <a:noFill/>
                </a:ln>
                <a:solidFill>
                  <a:srgbClr val="003399"/>
                </a:solidFill>
                <a:effectLst/>
                <a:latin typeface="Arial" panose="020B0604020202020204" pitchFamily="34" charset="0"/>
              </a:rPr>
              <a:t>VII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6" name="Oval 364" descr="Бурлуцкая Арина"/>
          <p:cNvSpPr>
            <a:spLocks noChangeArrowheads="1"/>
          </p:cNvSpPr>
          <p:nvPr/>
        </p:nvSpPr>
        <p:spPr bwMode="auto">
          <a:xfrm>
            <a:off x="1376363" y="26670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dirty="0" err="1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  <a:hlinkClick r:id="rId3" action="ppaction://hlinkfile"/>
              </a:rPr>
              <a:t>Бурлуцкая</a:t>
            </a:r>
            <a:r>
              <a:rPr kumimoji="0" lang="ru-RU" altLang="ru-RU" sz="600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 Арина</a:t>
            </a: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7" name="Line 365"/>
          <p:cNvSpPr>
            <a:spLocks noChangeShapeType="1"/>
          </p:cNvSpPr>
          <p:nvPr/>
        </p:nvSpPr>
        <p:spPr bwMode="auto">
          <a:xfrm flipH="1">
            <a:off x="1947863" y="381000"/>
            <a:ext cx="1524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68" name="Oval 366" descr="Месник Надежда&#10;"/>
          <p:cNvSpPr>
            <a:spLocks noChangeArrowheads="1"/>
          </p:cNvSpPr>
          <p:nvPr/>
        </p:nvSpPr>
        <p:spPr bwMode="auto">
          <a:xfrm>
            <a:off x="7053263" y="102870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Ксения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9" name="Text Box 367" descr="Месник Роман&#10;"/>
          <p:cNvSpPr txBox="1">
            <a:spLocks noChangeArrowheads="1"/>
          </p:cNvSpPr>
          <p:nvPr/>
        </p:nvSpPr>
        <p:spPr bwMode="auto">
          <a:xfrm>
            <a:off x="4919663" y="106680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Максим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0" name="Line 368"/>
          <p:cNvSpPr>
            <a:spLocks noChangeShapeType="1"/>
          </p:cNvSpPr>
          <p:nvPr/>
        </p:nvSpPr>
        <p:spPr bwMode="auto">
          <a:xfrm>
            <a:off x="7624763" y="1181100"/>
            <a:ext cx="2286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1" name="Line 369"/>
          <p:cNvSpPr>
            <a:spLocks noChangeShapeType="1"/>
          </p:cNvSpPr>
          <p:nvPr/>
        </p:nvSpPr>
        <p:spPr bwMode="auto">
          <a:xfrm>
            <a:off x="7739063" y="1181100"/>
            <a:ext cx="0" cy="10668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2" name="Line 370"/>
          <p:cNvSpPr>
            <a:spLocks noChangeShapeType="1"/>
          </p:cNvSpPr>
          <p:nvPr/>
        </p:nvSpPr>
        <p:spPr bwMode="auto">
          <a:xfrm flipH="1">
            <a:off x="7700963" y="2247900"/>
            <a:ext cx="381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3" name="Line 371"/>
          <p:cNvSpPr>
            <a:spLocks noChangeShapeType="1"/>
          </p:cNvSpPr>
          <p:nvPr/>
        </p:nvSpPr>
        <p:spPr bwMode="auto">
          <a:xfrm>
            <a:off x="7662863" y="175260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4" name="Line 372"/>
          <p:cNvSpPr>
            <a:spLocks noChangeShapeType="1"/>
          </p:cNvSpPr>
          <p:nvPr/>
        </p:nvSpPr>
        <p:spPr bwMode="auto">
          <a:xfrm>
            <a:off x="8424863" y="2209800"/>
            <a:ext cx="1143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5" name="Line 373"/>
          <p:cNvSpPr>
            <a:spLocks noChangeShapeType="1"/>
          </p:cNvSpPr>
          <p:nvPr/>
        </p:nvSpPr>
        <p:spPr bwMode="auto">
          <a:xfrm flipH="1">
            <a:off x="8539163" y="118110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6" name="Oval 374" descr="Месник Надежда&#10;"/>
          <p:cNvSpPr>
            <a:spLocks noChangeArrowheads="1"/>
          </p:cNvSpPr>
          <p:nvPr/>
        </p:nvSpPr>
        <p:spPr bwMode="auto">
          <a:xfrm>
            <a:off x="7853363" y="1028700"/>
            <a:ext cx="571500" cy="285750"/>
          </a:xfrm>
          <a:prstGeom prst="ellipse">
            <a:avLst/>
          </a:prstGeom>
          <a:solidFill>
            <a:srgbClr val="FFCC99"/>
          </a:solidFill>
          <a:ln w="9525" algn="ctr">
            <a:solidFill>
              <a:srgbClr val="8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6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Месник Ольга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7" name="Line 375"/>
          <p:cNvSpPr>
            <a:spLocks noChangeShapeType="1"/>
          </p:cNvSpPr>
          <p:nvPr/>
        </p:nvSpPr>
        <p:spPr bwMode="auto">
          <a:xfrm>
            <a:off x="8424863" y="1714500"/>
            <a:ext cx="1143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78" name="Text Box 376" descr="Расин Алексей&#10;"/>
          <p:cNvSpPr txBox="1">
            <a:spLocks noChangeArrowheads="1"/>
          </p:cNvSpPr>
          <p:nvPr/>
        </p:nvSpPr>
        <p:spPr bwMode="auto">
          <a:xfrm>
            <a:off x="6329363" y="1638300"/>
            <a:ext cx="571500" cy="285750"/>
          </a:xfrm>
          <a:prstGeom prst="rect">
            <a:avLst/>
          </a:prstGeom>
          <a:solidFill>
            <a:srgbClr val="99CCFF">
              <a:alpha val="67000"/>
            </a:srgbClr>
          </a:solidFill>
          <a:ln w="9525" algn="ctr">
            <a:solidFill>
              <a:srgbClr val="8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700" b="0" i="0" u="none" strike="noStrike" cap="none" normalizeH="0" baseline="0" smtClean="0">
                <a:ln>
                  <a:noFill/>
                </a:ln>
                <a:solidFill>
                  <a:srgbClr val="800000"/>
                </a:solidFill>
                <a:effectLst/>
                <a:latin typeface="Times New Roman" panose="02020603050405020304" pitchFamily="18" charset="0"/>
              </a:rPr>
              <a:t>Расин Алексей</a:t>
            </a:r>
            <a:endParaRPr kumimoji="0" lang="ru-RU" altLang="ru-RU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9" name="Line 377"/>
          <p:cNvSpPr>
            <a:spLocks noChangeShapeType="1"/>
          </p:cNvSpPr>
          <p:nvPr/>
        </p:nvSpPr>
        <p:spPr bwMode="auto">
          <a:xfrm>
            <a:off x="6900863" y="175260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80" name="Line 378"/>
          <p:cNvSpPr>
            <a:spLocks noChangeShapeType="1"/>
          </p:cNvSpPr>
          <p:nvPr/>
        </p:nvSpPr>
        <p:spPr bwMode="auto">
          <a:xfrm>
            <a:off x="6900863" y="2247900"/>
            <a:ext cx="76200" cy="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81" name="Line 379"/>
          <p:cNvSpPr>
            <a:spLocks noChangeShapeType="1"/>
          </p:cNvSpPr>
          <p:nvPr/>
        </p:nvSpPr>
        <p:spPr bwMode="auto">
          <a:xfrm flipV="1">
            <a:off x="6977063" y="1752600"/>
            <a:ext cx="0" cy="495300"/>
          </a:xfrm>
          <a:prstGeom prst="line">
            <a:avLst/>
          </a:prstGeom>
          <a:noFill/>
          <a:ln w="9525" algn="ctr">
            <a:solidFill>
              <a:srgbClr val="99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FFFFFF"/>
                  </a:outerShdw>
                </a:effectLst>
              </a14:hiddenEffects>
            </a:ext>
          </a:extLst>
        </p:spPr>
        <p:txBody>
          <a:bodyPr vert="horz" wrap="square" lIns="36576" tIns="36576" rIns="36576" bIns="36576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56832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137</Words>
  <Application>Microsoft Office PowerPoint</Application>
  <PresentationFormat>Широкоэкранный</PresentationFormat>
  <Paragraphs>84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3</cp:revision>
  <dcterms:created xsi:type="dcterms:W3CDTF">2024-11-27T20:04:58Z</dcterms:created>
  <dcterms:modified xsi:type="dcterms:W3CDTF">2024-11-27T20:36:21Z</dcterms:modified>
</cp:coreProperties>
</file>